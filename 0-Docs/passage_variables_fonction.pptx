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6F210-7434-41A3-B4C7-3741899FE48B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E114-116C-46DA-ACC4-D66F5C0293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206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6F210-7434-41A3-B4C7-3741899FE48B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E114-116C-46DA-ACC4-D66F5C0293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0527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6F210-7434-41A3-B4C7-3741899FE48B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E114-116C-46DA-ACC4-D66F5C0293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2317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6F210-7434-41A3-B4C7-3741899FE48B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E114-116C-46DA-ACC4-D66F5C0293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8655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6F210-7434-41A3-B4C7-3741899FE48B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E114-116C-46DA-ACC4-D66F5C0293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0418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6F210-7434-41A3-B4C7-3741899FE48B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E114-116C-46DA-ACC4-D66F5C0293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5160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6F210-7434-41A3-B4C7-3741899FE48B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E114-116C-46DA-ACC4-D66F5C0293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4997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6F210-7434-41A3-B4C7-3741899FE48B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E114-116C-46DA-ACC4-D66F5C0293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1545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6F210-7434-41A3-B4C7-3741899FE48B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E114-116C-46DA-ACC4-D66F5C0293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5939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6F210-7434-41A3-B4C7-3741899FE48B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E114-116C-46DA-ACC4-D66F5C0293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6922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6F210-7434-41A3-B4C7-3741899FE48B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E114-116C-46DA-ACC4-D66F5C0293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6214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6F210-7434-41A3-B4C7-3741899FE48B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3E114-116C-46DA-ACC4-D66F5C0293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3600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585168"/>
              </p:ext>
            </p:extLst>
          </p:nvPr>
        </p:nvGraphicFramePr>
        <p:xfrm>
          <a:off x="530587" y="873414"/>
          <a:ext cx="11077214" cy="5743287"/>
        </p:xfrm>
        <a:graphic>
          <a:graphicData uri="http://schemas.openxmlformats.org/drawingml/2006/table">
            <a:tbl>
              <a:tblPr/>
              <a:tblGrid>
                <a:gridCol w="2215443">
                  <a:extLst>
                    <a:ext uri="{9D8B030D-6E8A-4147-A177-3AD203B41FA5}">
                      <a16:colId xmlns:a16="http://schemas.microsoft.com/office/drawing/2014/main" val="1555191289"/>
                    </a:ext>
                  </a:extLst>
                </a:gridCol>
                <a:gridCol w="1619390">
                  <a:extLst>
                    <a:ext uri="{9D8B030D-6E8A-4147-A177-3AD203B41FA5}">
                      <a16:colId xmlns:a16="http://schemas.microsoft.com/office/drawing/2014/main" val="2059476779"/>
                    </a:ext>
                  </a:extLst>
                </a:gridCol>
                <a:gridCol w="2456233">
                  <a:extLst>
                    <a:ext uri="{9D8B030D-6E8A-4147-A177-3AD203B41FA5}">
                      <a16:colId xmlns:a16="http://schemas.microsoft.com/office/drawing/2014/main" val="3933751823"/>
                    </a:ext>
                  </a:extLst>
                </a:gridCol>
                <a:gridCol w="2273770">
                  <a:extLst>
                    <a:ext uri="{9D8B030D-6E8A-4147-A177-3AD203B41FA5}">
                      <a16:colId xmlns:a16="http://schemas.microsoft.com/office/drawing/2014/main" val="2084768414"/>
                    </a:ext>
                  </a:extLst>
                </a:gridCol>
                <a:gridCol w="2512378">
                  <a:extLst>
                    <a:ext uri="{9D8B030D-6E8A-4147-A177-3AD203B41FA5}">
                      <a16:colId xmlns:a16="http://schemas.microsoft.com/office/drawing/2014/main" val="1493320323"/>
                    </a:ext>
                  </a:extLst>
                </a:gridCol>
              </a:tblGrid>
              <a:tr h="496334">
                <a:tc>
                  <a:txBody>
                    <a:bodyPr/>
                    <a:lstStyle/>
                    <a:p>
                      <a:r>
                        <a:rPr lang="fr-FR" sz="1600" b="1" dirty="0">
                          <a:solidFill>
                            <a:srgbClr val="FF0000"/>
                          </a:solidFill>
                        </a:rPr>
                        <a:t>Type d’objet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>
                          <a:solidFill>
                            <a:srgbClr val="FF0000"/>
                          </a:solidFill>
                        </a:rPr>
                        <a:t>Mutable ?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>
                          <a:solidFill>
                            <a:srgbClr val="FF0000"/>
                          </a:solidFill>
                        </a:rPr>
                        <a:t>Passage (dans fonction)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>
                          <a:solidFill>
                            <a:srgbClr val="FF0000"/>
                          </a:solidFill>
                        </a:rPr>
                        <a:t>Vue / Copie possible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>
                          <a:solidFill>
                            <a:srgbClr val="FF0000"/>
                          </a:solidFill>
                        </a:rPr>
                        <a:t>Comportement clé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6855347"/>
                  </a:ext>
                </a:extLst>
              </a:tr>
              <a:tr h="1134477">
                <a:tc>
                  <a:txBody>
                    <a:bodyPr/>
                    <a:lstStyle/>
                    <a:p>
                      <a:r>
                        <a:rPr lang="en-US" sz="1600"/>
                        <a:t>int, float, str, tuple, bool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/>
                        <a:t>❌ Non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Par </a:t>
                      </a:r>
                      <a:r>
                        <a:rPr lang="fr-FR" sz="1600" b="1" dirty="0"/>
                        <a:t>copie de la référence</a:t>
                      </a:r>
                      <a:endParaRPr lang="fr-FR" sz="1600" dirty="0"/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/>
                        <a:t>Non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Immutables → toute </a:t>
                      </a:r>
                      <a:r>
                        <a:rPr lang="fr-FR" sz="1600" dirty="0" err="1" smtClean="0"/>
                        <a:t>modif</a:t>
                      </a:r>
                      <a:r>
                        <a:rPr lang="fr-FR" sz="1600" dirty="0" smtClean="0"/>
                        <a:t>. </a:t>
                      </a:r>
                      <a:r>
                        <a:rPr lang="fr-FR" sz="1600" dirty="0"/>
                        <a:t>crée un nouvel objet, rien ne change à l’extérieur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6655760"/>
                  </a:ext>
                </a:extLst>
              </a:tr>
              <a:tr h="709047">
                <a:tc>
                  <a:txBody>
                    <a:bodyPr/>
                    <a:lstStyle/>
                    <a:p>
                      <a:r>
                        <a:rPr lang="fr-FR" sz="1600"/>
                        <a:t>list, dict, set, bytearray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b="1" dirty="0" smtClean="0">
                          <a:solidFill>
                            <a:srgbClr val="FF0000"/>
                          </a:solidFill>
                        </a:rPr>
                        <a:t>✓</a:t>
                      </a:r>
                      <a:r>
                        <a:rPr lang="fr-FR" sz="1600" dirty="0" smtClean="0"/>
                        <a:t> </a:t>
                      </a:r>
                      <a:r>
                        <a:rPr lang="fr-FR" sz="1600" dirty="0"/>
                        <a:t>Oui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/>
                        <a:t>Par </a:t>
                      </a:r>
                      <a:r>
                        <a:rPr lang="fr-FR" sz="1600" b="1"/>
                        <a:t>référence</a:t>
                      </a:r>
                      <a:endParaRPr lang="fr-FR" sz="1600"/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/>
                        <a:t>Non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Mutables → </a:t>
                      </a:r>
                      <a:r>
                        <a:rPr lang="fr-FR" sz="1600" dirty="0" err="1" smtClean="0"/>
                        <a:t>modif</a:t>
                      </a:r>
                      <a:r>
                        <a:rPr lang="fr-FR" sz="1600" dirty="0" smtClean="0"/>
                        <a:t>. </a:t>
                      </a:r>
                      <a:r>
                        <a:rPr lang="fr-FR" sz="1600" dirty="0"/>
                        <a:t>interne visible à l’extérieur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556493"/>
                  </a:ext>
                </a:extLst>
              </a:tr>
              <a:tr h="1347190">
                <a:tc>
                  <a:txBody>
                    <a:bodyPr/>
                    <a:lstStyle/>
                    <a:p>
                      <a:r>
                        <a:rPr lang="fr-FR" sz="1600"/>
                        <a:t>numpy.ndarray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✓</a:t>
                      </a:r>
                      <a:r>
                        <a:rPr lang="fr-FR" sz="1600" dirty="0" smtClean="0"/>
                        <a:t> </a:t>
                      </a:r>
                      <a:r>
                        <a:rPr lang="fr-FR" sz="1600" dirty="0"/>
                        <a:t>Oui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/>
                        <a:t>Par </a:t>
                      </a:r>
                      <a:r>
                        <a:rPr lang="fr-FR" sz="1600" b="1"/>
                        <a:t>référence</a:t>
                      </a:r>
                      <a:endParaRPr lang="fr-FR" sz="1600"/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 smtClean="0">
                          <a:solidFill>
                            <a:srgbClr val="C00000"/>
                          </a:solidFill>
                        </a:rPr>
                        <a:t>⚠</a:t>
                      </a:r>
                      <a:r>
                        <a:rPr lang="fr-FR" sz="1600" dirty="0" smtClean="0"/>
                        <a:t> Oui</a:t>
                      </a:r>
                      <a:endParaRPr lang="fr-FR" sz="1600" dirty="0"/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Mutables → </a:t>
                      </a:r>
                      <a:r>
                        <a:rPr lang="fr-FR" sz="1600" dirty="0" err="1" smtClean="0"/>
                        <a:t>modif</a:t>
                      </a:r>
                      <a:r>
                        <a:rPr lang="fr-FR" sz="1600" dirty="0" smtClean="0"/>
                        <a:t>. </a:t>
                      </a:r>
                      <a:r>
                        <a:rPr lang="fr-FR" sz="1600" dirty="0"/>
                        <a:t>interne visible, mais certaines opérations ne font qu’une vue sur les mêmes données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9179447"/>
                  </a:ext>
                </a:extLst>
              </a:tr>
              <a:tr h="1559905">
                <a:tc>
                  <a:txBody>
                    <a:bodyPr/>
                    <a:lstStyle/>
                    <a:p>
                      <a:r>
                        <a:rPr lang="fr-FR" sz="1600"/>
                        <a:t>pd.Series, pd.DataFrame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✓</a:t>
                      </a:r>
                      <a:r>
                        <a:rPr lang="fr-FR" sz="1600" dirty="0" smtClean="0"/>
                        <a:t> </a:t>
                      </a:r>
                      <a:r>
                        <a:rPr lang="fr-FR" sz="1600" dirty="0"/>
                        <a:t>Oui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/>
                        <a:t>Par </a:t>
                      </a:r>
                      <a:r>
                        <a:rPr lang="fr-FR" sz="1600" b="1"/>
                        <a:t>référence</a:t>
                      </a:r>
                      <a:endParaRPr lang="fr-FR" sz="1600"/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 smtClean="0">
                          <a:solidFill>
                            <a:srgbClr val="C00000"/>
                          </a:solidFill>
                        </a:rPr>
                        <a:t>⚠</a:t>
                      </a:r>
                      <a:r>
                        <a:rPr lang="fr-FR" sz="1600" dirty="0" smtClean="0"/>
                        <a:t> Oui</a:t>
                      </a:r>
                      <a:endParaRPr lang="fr-FR" sz="1600" dirty="0"/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Mutables → </a:t>
                      </a:r>
                      <a:r>
                        <a:rPr lang="fr-FR" sz="1600" dirty="0" err="1" smtClean="0"/>
                        <a:t>modif</a:t>
                      </a:r>
                      <a:r>
                        <a:rPr lang="fr-FR" sz="1600" dirty="0" smtClean="0"/>
                        <a:t>. </a:t>
                      </a:r>
                      <a:r>
                        <a:rPr lang="fr-FR" sz="1600" dirty="0"/>
                        <a:t>interne visible, mais sous-ensembles peuvent être des </a:t>
                      </a:r>
                      <a:r>
                        <a:rPr lang="fr-FR" sz="1600" dirty="0" smtClean="0"/>
                        <a:t>vues</a:t>
                      </a:r>
                      <a:endParaRPr lang="fr-FR" sz="1600" dirty="0"/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3084122"/>
                  </a:ext>
                </a:extLst>
              </a:tr>
              <a:tr h="496334">
                <a:tc>
                  <a:txBody>
                    <a:bodyPr/>
                    <a:lstStyle/>
                    <a:p>
                      <a:r>
                        <a:rPr lang="fr-FR" sz="1600"/>
                        <a:t>pd.Index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/>
                        <a:t>❌ Non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/>
                        <a:t>Par </a:t>
                      </a:r>
                      <a:r>
                        <a:rPr lang="fr-FR" sz="1600" b="1"/>
                        <a:t>copie de la référence</a:t>
                      </a:r>
                      <a:endParaRPr lang="fr-FR" sz="1600"/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/>
                        <a:t>Non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Immutable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761364"/>
                  </a:ext>
                </a:extLst>
              </a:tr>
            </a:tbl>
          </a:graphicData>
        </a:graphic>
      </p:graphicFrame>
      <p:sp>
        <p:nvSpPr>
          <p:cNvPr id="6" name="ZoneTexte 5"/>
          <p:cNvSpPr txBox="1"/>
          <p:nvPr/>
        </p:nvSpPr>
        <p:spPr>
          <a:xfrm>
            <a:off x="2641600" y="177800"/>
            <a:ext cx="76107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P</a:t>
            </a:r>
            <a:r>
              <a:rPr lang="fr-FR" sz="2800" dirty="0" smtClean="0"/>
              <a:t>assage des variables en Python, </a:t>
            </a:r>
            <a:r>
              <a:rPr lang="fr-FR" sz="2800" dirty="0" err="1" smtClean="0"/>
              <a:t>NumPy</a:t>
            </a:r>
            <a:r>
              <a:rPr lang="fr-FR" sz="2800" dirty="0" smtClean="0"/>
              <a:t> </a:t>
            </a:r>
            <a:r>
              <a:rPr lang="fr-FR" sz="2800" smtClean="0"/>
              <a:t>et Pandas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72715120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133</Words>
  <Application>Microsoft Office PowerPoint</Application>
  <PresentationFormat>Grand écran</PresentationFormat>
  <Paragraphs>31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toussaij</dc:creator>
  <cp:lastModifiedBy>toussaij</cp:lastModifiedBy>
  <cp:revision>9</cp:revision>
  <dcterms:created xsi:type="dcterms:W3CDTF">2025-10-19T05:14:40Z</dcterms:created>
  <dcterms:modified xsi:type="dcterms:W3CDTF">2025-10-19T05:31:36Z</dcterms:modified>
</cp:coreProperties>
</file>